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4"/>
  </p:sldMasterIdLst>
  <p:notesMasterIdLst>
    <p:notesMasterId r:id="rId19"/>
  </p:notesMasterIdLst>
  <p:handoutMasterIdLst>
    <p:handoutMasterId r:id="rId20"/>
  </p:handoutMasterIdLst>
  <p:sldIdLst>
    <p:sldId id="994" r:id="rId5"/>
    <p:sldId id="989" r:id="rId6"/>
    <p:sldId id="998" r:id="rId7"/>
    <p:sldId id="999" r:id="rId8"/>
    <p:sldId id="990" r:id="rId9"/>
    <p:sldId id="1000" r:id="rId10"/>
    <p:sldId id="996" r:id="rId11"/>
    <p:sldId id="1002" r:id="rId12"/>
    <p:sldId id="1001" r:id="rId13"/>
    <p:sldId id="991" r:id="rId14"/>
    <p:sldId id="1003" r:id="rId15"/>
    <p:sldId id="1004" r:id="rId16"/>
    <p:sldId id="992" r:id="rId17"/>
    <p:sldId id="995" r:id="rId18"/>
  </p:sldIdLst>
  <p:sldSz cx="12192000" cy="6858000"/>
  <p:notesSz cx="7099300" cy="10234613"/>
  <p:custDataLst>
    <p:tags r:id="rId2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a Bajcsy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FF"/>
    <a:srgbClr val="CC00CC"/>
    <a:srgbClr val="FF9999"/>
    <a:srgbClr val="FFCC00"/>
    <a:srgbClr val="008000"/>
    <a:srgbClr val="FFC8C1"/>
    <a:srgbClr val="CCECFF"/>
    <a:srgbClr val="B5E3C8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4" autoAdjust="0"/>
    <p:restoredTop sz="94886" autoAdjust="0"/>
  </p:normalViewPr>
  <p:slideViewPr>
    <p:cSldViewPr snapToGrid="0">
      <p:cViewPr varScale="1">
        <p:scale>
          <a:sx n="121" d="100"/>
          <a:sy n="121" d="100"/>
        </p:scale>
        <p:origin x="176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3293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BFDBF11C-B684-4A8C-9DB2-46B18AF4E6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478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pitchFamily="34" charset="0"/>
              </a:defRPr>
            </a:lvl1pPr>
          </a:lstStyle>
          <a:p>
            <a:pPr>
              <a:defRPr/>
            </a:pPr>
            <a:fld id="{E134953A-E847-4B81-A1EE-12E7BBF0FE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768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104654"/>
            <a:ext cx="12192000" cy="1470025"/>
          </a:xfr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64702" y="5345875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62938-84EC-488D-9CA4-E38E8D42E5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882" indent="-342882">
              <a:buClr>
                <a:srgbClr val="C00000"/>
              </a:buClr>
              <a:buFont typeface="Wingdings" pitchFamily="2" charset="2"/>
              <a:buChar char="§"/>
              <a:defRPr sz="2400"/>
            </a:lvl1pPr>
            <a:lvl2pPr marL="742913" indent="-285737">
              <a:buClr>
                <a:srgbClr val="C00000"/>
              </a:buClr>
              <a:buFont typeface="Wingdings" pitchFamily="2" charset="2"/>
              <a:buChar char="§"/>
              <a:defRPr sz="2200"/>
            </a:lvl2pPr>
            <a:lvl3pPr marL="1142942" indent="-228589">
              <a:buClr>
                <a:srgbClr val="C00000"/>
              </a:buClr>
              <a:buFont typeface="Wingdings" pitchFamily="2" charset="2"/>
              <a:buChar char="§"/>
              <a:defRPr sz="2000"/>
            </a:lvl3pPr>
            <a:lvl4pPr marL="1600120" indent="-228589">
              <a:buClr>
                <a:srgbClr val="C00000"/>
              </a:buClr>
              <a:buFont typeface="Wingdings" pitchFamily="2" charset="2"/>
              <a:buChar char="§"/>
              <a:defRPr/>
            </a:lvl4pPr>
            <a:lvl5pPr marL="2057298" indent="-228589">
              <a:buClr>
                <a:srgbClr val="C00000"/>
              </a:buClr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A05A8-D087-49F8-A68B-53BB47A7E6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900"/>
            </a:lvl2pPr>
            <a:lvl3pPr marL="914354" indent="0">
              <a:buNone/>
              <a:defRPr sz="1600"/>
            </a:lvl3pPr>
            <a:lvl4pPr marL="1371532" indent="0">
              <a:buNone/>
              <a:defRPr sz="1500"/>
            </a:lvl4pPr>
            <a:lvl5pPr marL="1828709" indent="0">
              <a:buNone/>
              <a:defRPr sz="1500"/>
            </a:lvl5pPr>
            <a:lvl6pPr marL="2285886" indent="0">
              <a:buNone/>
              <a:defRPr sz="1500"/>
            </a:lvl6pPr>
            <a:lvl7pPr marL="2743062" indent="0">
              <a:buNone/>
              <a:defRPr sz="1500"/>
            </a:lvl7pPr>
            <a:lvl8pPr marL="3200240" indent="0">
              <a:buNone/>
              <a:defRPr sz="1500"/>
            </a:lvl8pPr>
            <a:lvl9pPr marL="3657418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BC673-9CA8-4194-8E34-D666622A55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5452364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572769"/>
            <a:ext cx="5707888" cy="452596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394BE-C7C4-4CA6-9240-6CDB29B2C9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0470E-5877-48CB-82CD-3CCAD5E835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85F8C-9C5D-49E8-8BBF-F28B73097F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15B49-E272-4523-8166-1B1831C4B7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7A090-BAD4-4341-AC7F-A731585BC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9B4F5-F495-445A-AD57-B1A0CC0AE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13C1C-2065-443A-845F-EE82C0FEFE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5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95800" y="6341812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70288" y="6364733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r">
              <a:defRPr sz="1500">
                <a:latin typeface="Palatino"/>
                <a:cs typeface="Palatino"/>
              </a:defRPr>
            </a:lvl1pPr>
          </a:lstStyle>
          <a:p>
            <a:pPr>
              <a:defRPr/>
            </a:pPr>
            <a:fld id="{529FA7E6-6E6F-4B77-AE36-D459A899DD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3" name="Straight Connector 2"/>
          <p:cNvCxnSpPr>
            <a:cxnSpLocks/>
          </p:cNvCxnSpPr>
          <p:nvPr/>
        </p:nvCxnSpPr>
        <p:spPr>
          <a:xfrm>
            <a:off x="152400" y="1092200"/>
            <a:ext cx="11887200" cy="25400"/>
          </a:xfrm>
          <a:prstGeom prst="line">
            <a:avLst/>
          </a:prstGeom>
          <a:ln w="63500" cmpd="sng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red and black logo&#10;&#10;Description automatically generated with low confidence">
            <a:extLst>
              <a:ext uri="{FF2B5EF4-FFF2-40B4-BE49-F238E27FC236}">
                <a16:creationId xmlns:a16="http://schemas.microsoft.com/office/drawing/2014/main" id="{2FDBD40E-0DB0-8F40-9F62-6241579A3AD8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8212"/>
            <a:ext cx="685800" cy="8844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 b="0" i="0">
          <a:solidFill>
            <a:srgbClr val="C00000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3200" b="0" i="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800" b="0" i="0">
          <a:solidFill>
            <a:schemeClr val="tx1"/>
          </a:solidFill>
          <a:latin typeface="Calibri Light" panose="020F0302020204030204" pitchFamily="34" charset="0"/>
          <a:cs typeface="Calibri Light" panose="020F0302020204030204" pitchFamily="34" charset="0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400" b="0" i="0">
          <a:solidFill>
            <a:schemeClr val="tx1"/>
          </a:solidFill>
          <a:latin typeface="Calibri Light" panose="020F0302020204030204" pitchFamily="34" charset="0"/>
          <a:cs typeface="Calibri Light" panose="020F0302020204030204" pitchFamily="34" charset="0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000" b="0" i="0">
          <a:solidFill>
            <a:schemeClr val="tx1"/>
          </a:solidFill>
          <a:latin typeface="Calibri Light" panose="020F0302020204030204" pitchFamily="34" charset="0"/>
          <a:cs typeface="Calibri Light" panose="020F0302020204030204" pitchFamily="34" charset="0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rgbClr val="C00000"/>
        </a:buClr>
        <a:buFont typeface="Wingdings" pitchFamily="2" charset="2"/>
        <a:buChar char="§"/>
        <a:defRPr sz="2000" b="0" i="0">
          <a:solidFill>
            <a:schemeClr val="tx1"/>
          </a:solidFill>
          <a:latin typeface="Calibri Light" panose="020F0302020204030204" pitchFamily="34" charset="0"/>
          <a:cs typeface="Calibri Light" panose="020F0302020204030204" pitchFamily="34" charset="0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tro.2017.2705103" TargetMode="External"/><Relationship Id="rId2" Type="http://schemas.openxmlformats.org/officeDocument/2006/relationships/hyperlink" Target="https://doi.org/10.1109/tro.2015.246367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athworks.com/discovery/slam.html#section-2" TargetMode="External"/><Relationship Id="rId4" Type="http://schemas.openxmlformats.org/officeDocument/2006/relationships/hyperlink" Target="http://www.mathwork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1F33C-C3B5-46E0-BC41-457AA7C4B5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/>
              <a:t>Monocular </a:t>
            </a:r>
            <a:r>
              <a:rPr lang="en-US" sz="3200" b="1" dirty="0"/>
              <a:t>Visual</a:t>
            </a:r>
            <a:r>
              <a:rPr lang="en-US" sz="3600" b="1" dirty="0"/>
              <a:t> Odometry for Trajectory Estimation Using a Mobile Robot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6C29E-837A-4E49-AA43-E777C3783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64702" y="2795155"/>
            <a:ext cx="12192000" cy="4074720"/>
          </a:xfrm>
        </p:spPr>
        <p:txBody>
          <a:bodyPr/>
          <a:lstStyle/>
          <a:p>
            <a:r>
              <a:rPr lang="en-US" dirty="0"/>
              <a:t>Group 07: Soumith Reddy Asani, Seri Sai Venkat Reddy, </a:t>
            </a:r>
          </a:p>
          <a:p>
            <a:r>
              <a:rPr lang="en-US" dirty="0"/>
              <a:t>Surya Prabhav Gurram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338C0-97D3-487F-B3A4-3FAD24497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E62938-84EC-488D-9CA4-E38E8D42E52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4F8BA82-FE1D-4EF3-B4DA-B3181BBDCE19}"/>
              </a:ext>
            </a:extLst>
          </p:cNvPr>
          <p:cNvSpPr txBox="1">
            <a:spLocks/>
          </p:cNvSpPr>
          <p:nvPr/>
        </p:nvSpPr>
        <p:spPr bwMode="auto">
          <a:xfrm>
            <a:off x="76200" y="-164996"/>
            <a:ext cx="121920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000" b="0" i="0">
                <a:solidFill>
                  <a:srgbClr val="C00000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178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354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532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709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b="1" kern="0" dirty="0"/>
              <a:t>CS 5733 Final Project Presentation </a:t>
            </a:r>
          </a:p>
        </p:txBody>
      </p:sp>
    </p:spTree>
    <p:extLst>
      <p:ext uri="{BB962C8B-B14F-4D97-AF65-F5344CB8AC3E}">
        <p14:creationId xmlns:p14="http://schemas.microsoft.com/office/powerpoint/2010/main" val="179028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C4075-941C-4451-BEFF-F6CBA4911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51E7C-3F22-4D01-84E2-D81149DCC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 lvl="1" indent="-400050"/>
            <a:r>
              <a:rPr lang="en-US" sz="2400" b="1" dirty="0">
                <a:latin typeface="+mn-lt"/>
              </a:rPr>
              <a:t>What is this project about?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Estimating camera trajectory using only a monocular RGB camera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Applied to real data collected from the </a:t>
            </a:r>
            <a:r>
              <a:rPr lang="en-US" sz="2000" dirty="0" err="1">
                <a:latin typeface="+mn-lt"/>
              </a:rPr>
              <a:t>ARCPro</a:t>
            </a:r>
            <a:r>
              <a:rPr lang="en-US" sz="2000" dirty="0">
                <a:latin typeface="+mn-lt"/>
              </a:rPr>
              <a:t> mobile robot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No depth sensors, no GPS, no ground truth</a:t>
            </a:r>
          </a:p>
          <a:p>
            <a:pPr marL="400050" lvl="1" indent="-400050"/>
            <a:endParaRPr lang="en-US" sz="2400" dirty="0">
              <a:latin typeface="+mn-lt"/>
            </a:endParaRPr>
          </a:p>
          <a:p>
            <a:pPr marL="400050" lvl="1" indent="-400050"/>
            <a:r>
              <a:rPr lang="en-US" sz="2400" b="1" dirty="0">
                <a:latin typeface="+mn-lt"/>
              </a:rPr>
              <a:t>Why this problem/topic is important?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Monocular cameras are cheap, lightweight, and widely available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Visual Odometry (VO) is a core component of robotics and autonomous navigation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Useful in indoor and GPS-denied environments</a:t>
            </a:r>
          </a:p>
          <a:p>
            <a:pPr marL="0" lvl="1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0E6C1-7D56-47CF-B94F-96DB785BB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82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E5D3C-DB9F-DA8D-AECA-6AFD601E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Previous Work &amp; Limitations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8A49E-01EA-7620-F38F-666AC5AAF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>
              <a:buNone/>
            </a:pPr>
            <a:r>
              <a:rPr lang="en-US" sz="2000" b="1" dirty="0">
                <a:latin typeface="+mn-lt"/>
              </a:rPr>
              <a:t>Previous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Feature-based VO and SLAM methods (e.g., ORB-SLAM, classical VO)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Stereo and RGB-D systems provide scale but require extra hardware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Most existing systems rely on stereo or RGB-D cameras to recover scale directly.</a:t>
            </a:r>
          </a:p>
          <a:p>
            <a:pPr>
              <a:buNone/>
            </a:pPr>
            <a:br>
              <a:rPr lang="en-US" sz="2000" dirty="0">
                <a:latin typeface="+mn-lt"/>
              </a:rPr>
            </a:br>
            <a:endParaRPr lang="en-US" sz="2000" dirty="0">
              <a:latin typeface="+mn-lt"/>
            </a:endParaRPr>
          </a:p>
          <a:p>
            <a:pPr>
              <a:buNone/>
            </a:pPr>
            <a:r>
              <a:rPr lang="en-US" sz="2000" b="1" dirty="0">
                <a:latin typeface="+mn-lt"/>
              </a:rPr>
              <a:t>Limitations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Monocular VO suffers from: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Scale ambiguity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Drift accumulation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Loop closure and global consistency are challenging without additional sensors</a:t>
            </a:r>
          </a:p>
          <a:p>
            <a:pPr>
              <a:buNone/>
            </a:pPr>
            <a:br>
              <a:rPr lang="en-US" sz="2000" dirty="0">
                <a:latin typeface="+mn-lt"/>
              </a:rPr>
            </a:br>
            <a:endParaRPr lang="en-US" sz="2000" dirty="0">
              <a:latin typeface="+mn-lt"/>
            </a:endParaRPr>
          </a:p>
          <a:p>
            <a:pPr>
              <a:buNone/>
            </a:pPr>
            <a:r>
              <a:rPr lang="en-US" sz="2000" b="1" dirty="0">
                <a:latin typeface="+mn-lt"/>
              </a:rPr>
              <a:t>Motivation for Our Work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Focus on a clean, robust monocular VO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Emphasize real robot data and honest evaluation</a:t>
            </a:r>
          </a:p>
          <a:p>
            <a:endParaRPr lang="en-US" sz="20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5E10D-28D3-6AA9-94F9-6DA5D90E5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28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F0A92-2BDA-DE68-0AC6-E1EF2473A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Contribution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D9AC7-1CAA-2CDD-BB92-81A4AB48F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>
              <a:buNone/>
            </a:pPr>
            <a:r>
              <a:rPr lang="en-US" sz="2000" b="1" dirty="0">
                <a:latin typeface="+mn-lt"/>
              </a:rPr>
              <a:t>Our Contributions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Implemented a monocular visual odometry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Evaluated on real </a:t>
            </a:r>
            <a:r>
              <a:rPr lang="en-US" sz="2000" dirty="0" err="1">
                <a:latin typeface="+mn-lt"/>
              </a:rPr>
              <a:t>ARCPro</a:t>
            </a:r>
            <a:r>
              <a:rPr lang="en-US" sz="2000" dirty="0">
                <a:latin typeface="+mn-lt"/>
              </a:rPr>
              <a:t> robot camera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Provided: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Quantitative tracking statistics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Qualitative feature matching visualizations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Trajectory estimation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Sparse 3D reconstruction (optional)</a:t>
            </a:r>
          </a:p>
          <a:p>
            <a:pPr marL="457176" lvl="1" indent="0">
              <a:buNone/>
            </a:pPr>
            <a:endParaRPr lang="en-US" sz="2000" dirty="0">
              <a:latin typeface="+mn-lt"/>
            </a:endParaRPr>
          </a:p>
          <a:p>
            <a:pPr>
              <a:buNone/>
            </a:pPr>
            <a:br>
              <a:rPr lang="en-US" sz="2000" dirty="0">
                <a:latin typeface="+mn-lt"/>
              </a:rPr>
            </a:br>
            <a:endParaRPr lang="en-US" sz="2000" dirty="0">
              <a:latin typeface="+mn-lt"/>
            </a:endParaRPr>
          </a:p>
          <a:p>
            <a:pPr>
              <a:buNone/>
            </a:pPr>
            <a:endParaRPr lang="en-US" sz="2000" dirty="0">
              <a:latin typeface="+mn-lt"/>
            </a:endParaRPr>
          </a:p>
          <a:p>
            <a:pPr>
              <a:buNone/>
            </a:pPr>
            <a:endParaRPr lang="en-US" sz="2000" b="1" dirty="0">
              <a:latin typeface="+mn-lt"/>
            </a:endParaRPr>
          </a:p>
          <a:p>
            <a:pPr>
              <a:buNone/>
            </a:pPr>
            <a:r>
              <a:rPr lang="en-US" sz="2000" b="1" dirty="0">
                <a:latin typeface="+mn-lt"/>
              </a:rPr>
              <a:t>Key Focus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Robust feature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Stable pose estimation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Honest discussion of success and failure cases</a:t>
            </a:r>
          </a:p>
          <a:p>
            <a:endParaRPr lang="en-US" sz="20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11462-A74C-EBE8-8E8B-70A8E8D72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67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4C1C-4DD7-4E22-B012-AA64DB3E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 Overview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49FB8-21CC-4AB0-B1B0-54F079910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>
                <a:latin typeface="+mn-lt"/>
              </a:rPr>
              <a:t>Pipeline Overview</a:t>
            </a:r>
            <a:endParaRPr lang="en-US" sz="2000" dirty="0">
              <a:latin typeface="+mn-lt"/>
            </a:endParaRPr>
          </a:p>
          <a:p>
            <a:r>
              <a:rPr lang="en-US" sz="2000" b="1" dirty="0">
                <a:latin typeface="+mn-lt"/>
              </a:rPr>
              <a:t>Feature detection and description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Detect salient key points in each frame</a:t>
            </a:r>
          </a:p>
          <a:p>
            <a:r>
              <a:rPr lang="en-US" sz="2000" b="1" dirty="0">
                <a:latin typeface="+mn-lt"/>
              </a:rPr>
              <a:t>Feature matching between consecutive frames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Establish pixel correspondences for motion estimation</a:t>
            </a:r>
          </a:p>
          <a:p>
            <a:r>
              <a:rPr lang="en-US" sz="2000" b="1" dirty="0">
                <a:latin typeface="+mn-lt"/>
              </a:rPr>
              <a:t>Essential matrix estimation (RANSAC)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Enforce epi-polar geometry and reject outliers</a:t>
            </a:r>
          </a:p>
          <a:p>
            <a:r>
              <a:rPr lang="en-US" sz="2000" b="1" dirty="0">
                <a:latin typeface="+mn-lt"/>
              </a:rPr>
              <a:t>Relative pose recovery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Estimate camera rotation and translation</a:t>
            </a:r>
          </a:p>
          <a:p>
            <a:r>
              <a:rPr lang="en-US" sz="2000" b="1" dirty="0">
                <a:latin typeface="+mn-lt"/>
              </a:rPr>
              <a:t>Trajectory integration over time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800" dirty="0">
                <a:latin typeface="+mn-lt"/>
              </a:rPr>
              <a:t>Accumulate relative poses to form a global path</a:t>
            </a:r>
          </a:p>
          <a:p>
            <a:pPr marL="0" indent="0">
              <a:buNone/>
            </a:pPr>
            <a:endParaRPr lang="en-US" sz="20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E28E0-855B-4867-A78F-84476B72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5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23D63-FA5D-2EA9-8FB5-798213E0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 Details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94E4D-A909-5801-932A-689CBA5BD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>
                <a:latin typeface="+mn-lt"/>
              </a:rPr>
              <a:t>Key Techniques Used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Feature detection and matching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Essential matrix estimation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RANSAC-based outlier rejection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Pose recovery using </a:t>
            </a:r>
            <a:r>
              <a:rPr lang="en-US" sz="2000" dirty="0" err="1">
                <a:latin typeface="+mn-lt"/>
              </a:rPr>
              <a:t>epipolar</a:t>
            </a:r>
            <a:r>
              <a:rPr lang="en-US" sz="2000" dirty="0">
                <a:latin typeface="+mn-lt"/>
              </a:rPr>
              <a:t> geometry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Incremental trajectory accumulation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RANSAC helps handle mismatches caused by dynamic objects and repetitive textures.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Pose estimates are relative between frames, not absolute.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F90C1-0C01-5530-0220-4FC66BDF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99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D31AD-498E-4283-A5A6-A975109B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0CD16-BF16-BEB8-BDFC-DED2AA534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pPr>
              <a:buNone/>
            </a:pPr>
            <a:r>
              <a:rPr lang="en-US" sz="2000" b="1" dirty="0">
                <a:latin typeface="+mn-lt"/>
              </a:rPr>
              <a:t>Data Collection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RGB camera data from </a:t>
            </a:r>
            <a:r>
              <a:rPr lang="en-US" sz="2000" dirty="0" err="1">
                <a:latin typeface="+mn-lt"/>
              </a:rPr>
              <a:t>ARCPro</a:t>
            </a:r>
            <a:r>
              <a:rPr lang="en-US" sz="2000" dirty="0">
                <a:latin typeface="+mn-lt"/>
              </a:rPr>
              <a:t> mobile robot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Data was collected in an indoor </a:t>
            </a:r>
            <a:r>
              <a:rPr lang="en-US" sz="2000" dirty="0" err="1">
                <a:latin typeface="+mn-lt"/>
              </a:rPr>
              <a:t>MiniCity</a:t>
            </a:r>
            <a:r>
              <a:rPr lang="en-US" sz="2000" dirty="0">
                <a:latin typeface="+mn-lt"/>
              </a:rPr>
              <a:t> environment with realistic lighting variations.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Offline processing allowed us to focus on correctness rather than real-time constraints.</a:t>
            </a:r>
          </a:p>
          <a:p>
            <a:pPr>
              <a:buNone/>
            </a:pPr>
            <a:br>
              <a:rPr lang="en-US" sz="2000" dirty="0">
                <a:latin typeface="+mn-lt"/>
              </a:rPr>
            </a:br>
            <a:endParaRPr lang="en-US" sz="2000" dirty="0">
              <a:latin typeface="+mn-lt"/>
            </a:endParaRPr>
          </a:p>
          <a:p>
            <a:pPr>
              <a:buNone/>
            </a:pPr>
            <a:r>
              <a:rPr lang="en-US" sz="2000" b="1" dirty="0">
                <a:latin typeface="+mn-lt"/>
              </a:rPr>
              <a:t>Implementation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OpenCV used for feature detection, matching, and pose estimation.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Custom monocular visual odometry pipeline implemented from scratch.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No ground-truth trajectory used</a:t>
            </a:r>
          </a:p>
          <a:p>
            <a:pPr>
              <a:buNone/>
            </a:pPr>
            <a:endParaRPr lang="en-US" sz="2000" dirty="0">
              <a:latin typeface="+mn-lt"/>
            </a:endParaRPr>
          </a:p>
          <a:p>
            <a:pPr>
              <a:buNone/>
            </a:pPr>
            <a:br>
              <a:rPr lang="en-US" sz="2000" dirty="0">
                <a:latin typeface="+mn-lt"/>
              </a:rPr>
            </a:br>
            <a:endParaRPr lang="en-US" sz="2000" dirty="0">
              <a:latin typeface="+mn-lt"/>
            </a:endParaRPr>
          </a:p>
          <a:p>
            <a:pPr>
              <a:buNone/>
            </a:pPr>
            <a:r>
              <a:rPr lang="en-US" sz="2000" b="1" dirty="0">
                <a:latin typeface="+mn-lt"/>
              </a:rPr>
              <a:t>Hardware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RGB monocular camera mounted on the </a:t>
            </a:r>
            <a:r>
              <a:rPr lang="en-US" sz="2000" dirty="0" err="1">
                <a:latin typeface="+mn-lt"/>
              </a:rPr>
              <a:t>ARCPro</a:t>
            </a:r>
            <a:r>
              <a:rPr lang="en-US" sz="2000" dirty="0">
                <a:latin typeface="+mn-lt"/>
              </a:rPr>
              <a:t> mobile robot.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All computation performed offline on a standard laptop.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CEAC1-B70A-BFC8-4902-8E8372EF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18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375A-7DD3-D528-5FF2-62FD6CE7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Results: Tracking Quality</a:t>
            </a:r>
            <a:endParaRPr lang="en-US" dirty="0"/>
          </a:p>
        </p:txBody>
      </p:sp>
      <p:pic>
        <p:nvPicPr>
          <p:cNvPr id="6" name="Content Placeholder 5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6AD2BC7E-6BA1-0352-AE2D-3AE63F6E8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549" y="1238250"/>
            <a:ext cx="5842000" cy="43815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5CE3D-20EB-27F8-8FF3-8B93011CE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DFE1D6-7AA3-39DD-F466-00842F8BC50B}"/>
              </a:ext>
            </a:extLst>
          </p:cNvPr>
          <p:cNvSpPr txBox="1"/>
          <p:nvPr/>
        </p:nvSpPr>
        <p:spPr>
          <a:xfrm>
            <a:off x="234451" y="1744924"/>
            <a:ext cx="6629400" cy="424731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>
              <a:buNone/>
            </a:pPr>
            <a:r>
              <a:rPr lang="en-US" b="1" dirty="0"/>
              <a:t>Tracking Statistics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feature matches per frame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 of inliers after E-RANSAC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Statistics computed across the full image sequence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Observations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Consistent separation between matches and inliers indicates effective outlier rejection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Stable inlier counts across most frames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long-term tracking collapse observed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Temporary drops correspond to low-texture regions or rapid motion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7587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C110-67D3-7EAD-852E-15A69C4E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 wrap="square" anchor="ctr">
            <a:normAutofit/>
          </a:bodyPr>
          <a:lstStyle/>
          <a:p>
            <a:r>
              <a:rPr lang="en-US" b="1" dirty="0"/>
              <a:t>Results: Trajectory Estimation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7E4862F-82C1-EE3E-D409-654EA9931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5452364" cy="4525963"/>
          </a:xfrm>
        </p:spPr>
        <p:txBody>
          <a:bodyPr/>
          <a:lstStyle/>
          <a:p>
            <a:pPr>
              <a:buNone/>
            </a:pPr>
            <a:r>
              <a:rPr lang="en-US" sz="1800" b="1" dirty="0">
                <a:latin typeface="+mn-lt"/>
              </a:rPr>
              <a:t>Monocular VO Trajectory</a:t>
            </a:r>
            <a:endParaRPr lang="en-US" sz="18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Trajectory estimated by chaining relative frame-to-frame poses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Smooth and continuous motion over the sequence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Drift accumulates over time, which is expected for monocular VO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Absolute scale is not observable with a single camera</a:t>
            </a:r>
            <a:br>
              <a:rPr lang="en-US" sz="1800" dirty="0">
                <a:latin typeface="+mn-lt"/>
              </a:rPr>
            </a:br>
            <a:endParaRPr lang="en-US" sz="1800" dirty="0">
              <a:latin typeface="+mn-lt"/>
            </a:endParaRPr>
          </a:p>
          <a:p>
            <a:pPr>
              <a:buNone/>
            </a:pPr>
            <a:r>
              <a:rPr lang="en-US" sz="1800" b="1" dirty="0">
                <a:latin typeface="+mn-lt"/>
              </a:rPr>
              <a:t>Takeaway</a:t>
            </a:r>
            <a:endParaRPr lang="en-US" sz="18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Relative motion is estimated reliably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Drift highlights the need for loop closure in future work</a:t>
            </a:r>
          </a:p>
          <a:p>
            <a:endParaRPr lang="en-US" sz="2000" dirty="0">
              <a:latin typeface="+mn-lt"/>
            </a:endParaRPr>
          </a:p>
        </p:txBody>
      </p:sp>
      <p:pic>
        <p:nvPicPr>
          <p:cNvPr id="6" name="Content Placeholder 5" descr="A graph with a line drawn on it&#10;&#10;AI-generated content may be incorrect.">
            <a:extLst>
              <a:ext uri="{FF2B5EF4-FFF2-40B4-BE49-F238E27FC236}">
                <a16:creationId xmlns:a16="http://schemas.microsoft.com/office/drawing/2014/main" id="{B2CEB103-486B-CB62-2791-A5E3708A63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5292"/>
            <a:ext cx="5707888" cy="4280916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91AF7-C16E-BC2B-D16B-6BACF8D12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0288" y="6364733"/>
            <a:ext cx="2133600" cy="476251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A91A05A8-D087-49F8-A68B-53BB47A7E6BF}" type="slidenum">
              <a:rPr lang="en-US" smtClean="0"/>
              <a:pPr>
                <a:spcAft>
                  <a:spcPts val="600"/>
                </a:spcAft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0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A87D-05EE-45D8-B010-D6858AEB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5400"/>
            <a:ext cx="12192000" cy="1143000"/>
          </a:xfrm>
        </p:spPr>
        <p:txBody>
          <a:bodyPr wrap="square" anchor="ctr">
            <a:normAutofit/>
          </a:bodyPr>
          <a:lstStyle/>
          <a:p>
            <a:r>
              <a:rPr lang="en-US" b="1" dirty="0"/>
              <a:t>Results: Sparse 3D Reconstruction 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D074505-9E92-47E9-9A4D-38A44C204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5452364" cy="4525963"/>
          </a:xfrm>
        </p:spPr>
        <p:txBody>
          <a:bodyPr/>
          <a:lstStyle/>
          <a:p>
            <a:pPr>
              <a:buNone/>
            </a:pPr>
            <a:r>
              <a:rPr lang="en-US" sz="1800" b="1" dirty="0">
                <a:latin typeface="+mn-lt"/>
              </a:rPr>
              <a:t>Sparse 3D Points</a:t>
            </a:r>
            <a:endParaRPr lang="en-US" sz="18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3D points triangulated from matched feature correspondences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Reconstruction demonstrates consistent scene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Scale is arbitrary due to monocular setup</a:t>
            </a:r>
          </a:p>
          <a:p>
            <a:pPr>
              <a:buNone/>
            </a:pPr>
            <a:br>
              <a:rPr lang="en-US" sz="1800" dirty="0">
                <a:latin typeface="+mn-lt"/>
              </a:rPr>
            </a:br>
            <a:endParaRPr lang="en-US" sz="1800" dirty="0">
              <a:latin typeface="+mn-lt"/>
            </a:endParaRPr>
          </a:p>
          <a:p>
            <a:pPr>
              <a:buNone/>
            </a:pPr>
            <a:r>
              <a:rPr lang="en-US" sz="1800" b="1" dirty="0">
                <a:latin typeface="+mn-lt"/>
              </a:rPr>
              <a:t>Observation</a:t>
            </a:r>
            <a:endParaRPr lang="en-US" sz="18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Depth ordering is preserved across the point cloud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No catastrophic reconstruction failure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Higher point density near the camera trajectory</a:t>
            </a:r>
          </a:p>
          <a:p>
            <a:endParaRPr lang="en-US" sz="2000" dirty="0">
              <a:latin typeface="+mn-lt"/>
            </a:endParaRPr>
          </a:p>
        </p:txBody>
      </p:sp>
      <p:pic>
        <p:nvPicPr>
          <p:cNvPr id="6" name="Content Placeholder 5" descr="A graph of blue particles&#10;&#10;AI-generated content may be incorrect.">
            <a:extLst>
              <a:ext uri="{FF2B5EF4-FFF2-40B4-BE49-F238E27FC236}">
                <a16:creationId xmlns:a16="http://schemas.microsoft.com/office/drawing/2014/main" id="{77108CAA-A875-C8E7-E65B-D8A7107484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4" r="3" b="3"/>
          <a:stretch>
            <a:fillRect/>
          </a:stretch>
        </p:blipFill>
        <p:spPr>
          <a:xfrm>
            <a:off x="6096000" y="1572769"/>
            <a:ext cx="5707888" cy="4525963"/>
          </a:xfr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5F967-6884-445E-807F-DB22D814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70288" y="6364733"/>
            <a:ext cx="2133600" cy="476251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  <a:defRPr/>
            </a:pPr>
            <a:fld id="{A91A05A8-D087-49F8-A68B-53BB47A7E6BF}" type="slidenum">
              <a:rPr lang="en-US" smtClean="0"/>
              <a:pPr>
                <a:spcAft>
                  <a:spcPts val="600"/>
                </a:spcAft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57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48347-BF4A-FEAD-6360-5E35B0D81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Success &amp; Failure Cases 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8A97B-6D0B-FFEE-B962-FF357F5C7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latin typeface="+mn-lt"/>
              </a:rPr>
              <a:t>Success Cases</a:t>
            </a:r>
            <a:endParaRPr lang="en-US" sz="18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Texture-rich environments with visible edges and corners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Moderate and smooth camera motion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Stable indoor lighting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Structured scenes such as building facades and road markings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Consecutive frames with sufficient feature overlap</a:t>
            </a:r>
          </a:p>
          <a:p>
            <a:pPr>
              <a:buNone/>
            </a:pPr>
            <a:br>
              <a:rPr lang="en-US" sz="1800" dirty="0">
                <a:latin typeface="+mn-lt"/>
              </a:rPr>
            </a:br>
            <a:endParaRPr lang="en-US" sz="1800" dirty="0">
              <a:latin typeface="+mn-lt"/>
            </a:endParaRPr>
          </a:p>
          <a:p>
            <a:pPr>
              <a:buNone/>
            </a:pPr>
            <a:r>
              <a:rPr lang="en-US" sz="1800" b="1" dirty="0">
                <a:latin typeface="+mn-lt"/>
              </a:rPr>
              <a:t>Failure / Limitations</a:t>
            </a:r>
            <a:endParaRPr lang="en-US" sz="18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Scale ambiguity inherent to monocular vision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Drift accumulation over long trajectories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Sensitivity to rapid camera motion and motion blur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Reduced performance in low-texture or repetitive scenes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No loop closure to correct accumulated error</a:t>
            </a:r>
          </a:p>
          <a:p>
            <a:endParaRPr lang="en-US" sz="1800" dirty="0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1DDA8-1170-F04E-4290-17E374FF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50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D0EAE-358C-C7CA-8089-332925099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Task Assignment 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1C3B78-0CEF-A892-41C5-B1CF1BA76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3331813"/>
              </p:ext>
            </p:extLst>
          </p:nvPr>
        </p:nvGraphicFramePr>
        <p:xfrm>
          <a:off x="406400" y="1396999"/>
          <a:ext cx="11379200" cy="355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9600">
                  <a:extLst>
                    <a:ext uri="{9D8B030D-6E8A-4147-A177-3AD203B41FA5}">
                      <a16:colId xmlns:a16="http://schemas.microsoft.com/office/drawing/2014/main" val="1202776450"/>
                    </a:ext>
                  </a:extLst>
                </a:gridCol>
                <a:gridCol w="5689600">
                  <a:extLst>
                    <a:ext uri="{9D8B030D-6E8A-4147-A177-3AD203B41FA5}">
                      <a16:colId xmlns:a16="http://schemas.microsoft.com/office/drawing/2014/main" val="3363366540"/>
                    </a:ext>
                  </a:extLst>
                </a:gridCol>
              </a:tblGrid>
              <a:tr h="653473"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Team Member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Responsibility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605484"/>
                  </a:ext>
                </a:extLst>
              </a:tr>
              <a:tr h="653473">
                <a:tc>
                  <a:txBody>
                    <a:bodyPr/>
                    <a:lstStyle/>
                    <a:p>
                      <a:r>
                        <a:rPr lang="en-US" dirty="0"/>
                        <a:t>Surya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 pipeline design, essential matrix estimation, pose recovery, trajectory integration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173723"/>
                  </a:ext>
                </a:extLst>
              </a:tr>
              <a:tr h="653473">
                <a:tc>
                  <a:txBody>
                    <a:bodyPr/>
                    <a:lstStyle/>
                    <a:p>
                      <a:r>
                        <a:rPr lang="en-US" dirty="0"/>
                        <a:t>Venkat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collection using </a:t>
                      </a:r>
                      <a:r>
                        <a:rPr lang="en-US" dirty="0" err="1"/>
                        <a:t>ARCPro</a:t>
                      </a:r>
                      <a:r>
                        <a:rPr lang="en-US" dirty="0"/>
                        <a:t> robot, feature matching visualization, experiment setup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07909"/>
                  </a:ext>
                </a:extLst>
              </a:tr>
              <a:tr h="653473">
                <a:tc>
                  <a:txBody>
                    <a:bodyPr/>
                    <a:lstStyle/>
                    <a:p>
                      <a:r>
                        <a:rPr lang="en-US" dirty="0"/>
                        <a:t>Soumith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Evaluation and analysis, plotting tracking statistics, sparse 3D reconstruction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4400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235E7-1D74-C268-9A20-F5E79064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93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224D6-DDEF-4A97-A160-D3DED8175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6320" y="-25400"/>
            <a:ext cx="11155680" cy="1143000"/>
          </a:xfrm>
        </p:spPr>
        <p:txBody>
          <a:bodyPr/>
          <a:lstStyle/>
          <a:p>
            <a:r>
              <a:rPr lang="en-US" b="1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220E8-C578-4191-BA64-FFA87AB89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b="1" dirty="0">
                <a:latin typeface="+mn-lt"/>
              </a:rPr>
              <a:t>Conclusion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Successfully implemented a monocular visual odometry pipeline on real robot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Demonstrated stable feature tracking and smooth trajectory estimation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Verified results through quantitative tracking statistics and visual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Highlighted fundamental limitations of monocular VO such as scale ambiguity and drift</a:t>
            </a:r>
          </a:p>
          <a:p>
            <a:pPr>
              <a:buNone/>
            </a:pPr>
            <a:br>
              <a:rPr lang="en-US" sz="2000" dirty="0">
                <a:latin typeface="+mn-lt"/>
              </a:rPr>
            </a:br>
            <a:endParaRPr lang="en-US" sz="2000" dirty="0">
              <a:latin typeface="+mn-lt"/>
            </a:endParaRPr>
          </a:p>
          <a:p>
            <a:pPr>
              <a:buNone/>
            </a:pPr>
            <a:r>
              <a:rPr lang="en-US" sz="2000" b="1" dirty="0">
                <a:latin typeface="+mn-lt"/>
              </a:rPr>
              <a:t>Future Work</a:t>
            </a:r>
            <a:endParaRPr lang="en-US" sz="2000" dirty="0"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Integrate loop closure to reduce long-term drift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Recover metric scale using additional sensors such as IMU or stereo cameras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Optimize the pipeline for real-time onboard deployment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Extend the system toward a full SLAM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Potential continuation toward a conference-level research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C2B1E-764C-4B8F-9E07-96A3C1301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4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057D-02B2-43DE-A344-1BD1287EF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18DED-81D8-4F4D-BA2F-2225E06C7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265" indent="-342265"/>
            <a:r>
              <a:rPr lang="en-US" sz="1600" dirty="0">
                <a:latin typeface="+mn-lt"/>
                <a:ea typeface="Calibri Light"/>
                <a:cs typeface="Calibri Light"/>
              </a:rPr>
              <a:t>[1]R. Mur-Artal, J. M. M. Montiel, and J. D. Tardos, “ORB-SLAM: A Versatile and Accurate Monocular SLAM System,” IEEE Transactions on Robotics, vol. 31, no. 5, pp. 1147–1163, Oct. 2015, </a:t>
            </a:r>
            <a:r>
              <a:rPr lang="en-US" sz="1600" dirty="0" err="1">
                <a:latin typeface="+mn-lt"/>
                <a:ea typeface="Calibri Light"/>
                <a:cs typeface="Calibri Light"/>
              </a:rPr>
              <a:t>doi</a:t>
            </a:r>
            <a:r>
              <a:rPr lang="en-US" sz="1600" dirty="0">
                <a:latin typeface="+mn-lt"/>
                <a:ea typeface="Calibri Light"/>
                <a:cs typeface="Calibri Light"/>
              </a:rPr>
              <a:t>: </a:t>
            </a:r>
            <a:r>
              <a:rPr lang="en-US" sz="1600" dirty="0">
                <a:latin typeface="+mn-lt"/>
                <a:ea typeface="Calibri Light"/>
                <a:cs typeface="Calibri Light"/>
                <a:hlinkClick r:id="rId2"/>
              </a:rPr>
              <a:t>https://doi.org/10.1109/tro.2015.2463671</a:t>
            </a:r>
            <a:r>
              <a:rPr lang="en-US" sz="1600" dirty="0">
                <a:latin typeface="+mn-lt"/>
                <a:ea typeface="Calibri Light"/>
                <a:cs typeface="Calibri Light"/>
              </a:rPr>
              <a:t>.</a:t>
            </a:r>
            <a:endParaRPr lang="en-US" sz="1600" dirty="0">
              <a:latin typeface="+mn-lt"/>
              <a:ea typeface="Calibri Light" panose="020F0302020204030204" pitchFamily="34" charset="0"/>
            </a:endParaRPr>
          </a:p>
          <a:p>
            <a:pPr marL="342265" indent="-342265"/>
            <a:r>
              <a:rPr lang="en-US" sz="1600" dirty="0">
                <a:latin typeface="+mn-lt"/>
                <a:ea typeface="Calibri Light"/>
                <a:cs typeface="Calibri Light"/>
              </a:rPr>
              <a:t>[2]R. Mur-Artal and J. D. Tardos, “ORB-SLAM2: An Open-Source SLAM System for Monocular, Stereo, and RGB-D Cameras,” IEEE Transactions on Robotics, vol. 33, no. 5, pp. 1255–1262, Oct. 2017, </a:t>
            </a:r>
            <a:r>
              <a:rPr lang="en-US" sz="1600" dirty="0" err="1">
                <a:latin typeface="+mn-lt"/>
                <a:ea typeface="Calibri Light"/>
                <a:cs typeface="Calibri Light"/>
              </a:rPr>
              <a:t>doi</a:t>
            </a:r>
            <a:r>
              <a:rPr lang="en-US" sz="1600" dirty="0">
                <a:latin typeface="+mn-lt"/>
                <a:ea typeface="Calibri Light"/>
                <a:cs typeface="Calibri Light"/>
              </a:rPr>
              <a:t>: </a:t>
            </a:r>
            <a:r>
              <a:rPr lang="en-US" sz="1600" dirty="0">
                <a:latin typeface="+mn-lt"/>
                <a:ea typeface="Calibri Light"/>
                <a:cs typeface="Calibri Light"/>
                <a:hlinkClick r:id="rId3"/>
              </a:rPr>
              <a:t>https://doi.org/10.1109/tro.2017.2705103</a:t>
            </a:r>
            <a:r>
              <a:rPr lang="en-US" sz="1600" dirty="0">
                <a:latin typeface="+mn-lt"/>
                <a:ea typeface="Calibri Light"/>
                <a:cs typeface="Calibri Light"/>
              </a:rPr>
              <a:t>.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  <a:ea typeface="Calibri Light"/>
                <a:cs typeface="Calibri Light"/>
              </a:rPr>
              <a:t>[3]“What Is SLAM (Simultaneous Localization and Mapping) – MATLAB &amp; Simulink,” </a:t>
            </a:r>
            <a:r>
              <a:rPr lang="en-US" sz="1600" dirty="0">
                <a:latin typeface="+mn-lt"/>
                <a:ea typeface="Calibri Light"/>
                <a:cs typeface="Calibri Light"/>
                <a:hlinkClick r:id="rId4"/>
              </a:rPr>
              <a:t>www.mathworks.com</a:t>
            </a:r>
            <a:r>
              <a:rPr lang="en-US" sz="1600" dirty="0">
                <a:latin typeface="+mn-lt"/>
                <a:ea typeface="Calibri Light"/>
                <a:cs typeface="Calibri Light"/>
              </a:rPr>
              <a:t>. </a:t>
            </a:r>
            <a:r>
              <a:rPr lang="en-US" sz="1600" dirty="0">
                <a:latin typeface="+mn-lt"/>
                <a:ea typeface="Calibri Light"/>
                <a:cs typeface="Calibri Light"/>
                <a:hlinkClick r:id="rId5"/>
              </a:rPr>
              <a:t>https://www.mathworks.com/discovery/slam.html#section-2</a:t>
            </a:r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[4] D. </a:t>
            </a:r>
            <a:r>
              <a:rPr lang="en-US" sz="1600" dirty="0" err="1">
                <a:latin typeface="+mn-lt"/>
              </a:rPr>
              <a:t>Scaramuzza</a:t>
            </a:r>
            <a:r>
              <a:rPr lang="en-US" sz="1600" dirty="0">
                <a:latin typeface="+mn-lt"/>
              </a:rPr>
              <a:t> and F. </a:t>
            </a:r>
            <a:r>
              <a:rPr lang="en-US" sz="1600" dirty="0" err="1">
                <a:latin typeface="+mn-lt"/>
              </a:rPr>
              <a:t>Fraundorfer</a:t>
            </a:r>
            <a:r>
              <a:rPr lang="en-US" sz="1600" dirty="0">
                <a:latin typeface="+mn-lt"/>
              </a:rPr>
              <a:t>, “Visual Odometry,” </a:t>
            </a:r>
            <a:r>
              <a:rPr lang="en-US" sz="1600" i="1" dirty="0">
                <a:latin typeface="+mn-lt"/>
              </a:rPr>
              <a:t>IEEE Robotics &amp; Automation Magazine</a:t>
            </a:r>
            <a:r>
              <a:rPr lang="en-US" sz="1600" dirty="0">
                <a:latin typeface="+mn-lt"/>
              </a:rPr>
              <a:t>, vol. 18, no. 4, pp. 80–92, 2011.</a:t>
            </a:r>
          </a:p>
          <a:p>
            <a:r>
              <a:rPr lang="en-US" sz="1600" dirty="0">
                <a:latin typeface="+mn-lt"/>
              </a:rPr>
              <a:t>[5] R. Hartley and A. Zisserman, </a:t>
            </a:r>
            <a:r>
              <a:rPr lang="en-US" sz="1600" i="1" dirty="0">
                <a:latin typeface="+mn-lt"/>
              </a:rPr>
              <a:t>Multiple View Geometry in Computer Vision</a:t>
            </a:r>
            <a:r>
              <a:rPr lang="en-US" sz="1600" dirty="0">
                <a:latin typeface="+mn-lt"/>
              </a:rPr>
              <a:t>, Cambridge University Press, 2nd ed., 2004.</a:t>
            </a:r>
          </a:p>
          <a:p>
            <a:r>
              <a:rPr lang="en-US" sz="1600" dirty="0">
                <a:latin typeface="+mn-lt"/>
              </a:rPr>
              <a:t>[6] OpenCV Documentation, https://</a:t>
            </a:r>
            <a:r>
              <a:rPr lang="en-US" sz="1600" dirty="0" err="1">
                <a:latin typeface="+mn-lt"/>
              </a:rPr>
              <a:t>docs.opencv.org</a:t>
            </a:r>
            <a:endParaRPr lang="en-US" sz="1600" dirty="0">
              <a:latin typeface="+mn-lt"/>
            </a:endParaRPr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79AB6-283A-4630-9B18-26AF236F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1A05A8-D087-49F8-A68B-53BB47A7E6B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4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5"/>
  <p:tag name="DEFAULTHEIGHT" val="283"/>
</p:tagLst>
</file>

<file path=ppt/theme/theme1.xml><?xml version="1.0" encoding="utf-8"?>
<a:theme xmlns:a="http://schemas.openxmlformats.org/drawingml/2006/main" name="188_anca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 smtClean="0">
            <a:latin typeface="Calibri"/>
            <a:cs typeface="Calibri"/>
          </a:defRPr>
        </a:defPPr>
      </a:lstStyle>
    </a:txDef>
  </a:objectDefaults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60BB81CBD3254E918B3D1944204F1B" ma:contentTypeVersion="14" ma:contentTypeDescription="Create a new document." ma:contentTypeScope="" ma:versionID="5eb8f5eb68dfed58c09a8edbea1f44ef">
  <xsd:schema xmlns:xsd="http://www.w3.org/2001/XMLSchema" xmlns:xs="http://www.w3.org/2001/XMLSchema" xmlns:p="http://schemas.microsoft.com/office/2006/metadata/properties" xmlns:ns3="dfecbb12-3c28-4a4c-99ed-7dbb047fb9b9" xmlns:ns4="67446347-bd43-4e43-8003-d54134e2ebba" targetNamespace="http://schemas.microsoft.com/office/2006/metadata/properties" ma:root="true" ma:fieldsID="c8fb9b7e977f794eb15faf320d861d23" ns3:_="" ns4:_="">
    <xsd:import namespace="dfecbb12-3c28-4a4c-99ed-7dbb047fb9b9"/>
    <xsd:import namespace="67446347-bd43-4e43-8003-d54134e2ebb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ecbb12-3c28-4a4c-99ed-7dbb047fb9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46347-bd43-4e43-8003-d54134e2ebb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3E2D7B-815C-494A-9580-AA9BC75AE0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ecbb12-3c28-4a4c-99ed-7dbb047fb9b9"/>
    <ds:schemaRef ds:uri="67446347-bd43-4e43-8003-d54134e2eb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9EC40D-70E0-4EF1-A5EC-79D2219C4E6D}">
  <ds:schemaRefs>
    <ds:schemaRef ds:uri="http://schemas.microsoft.com/office/2006/metadata/properties"/>
    <ds:schemaRef ds:uri="http://schemas.microsoft.com/office/2006/documentManagement/types"/>
    <ds:schemaRef ds:uri="dfecbb12-3c28-4a4c-99ed-7dbb047fb9b9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elements/1.1/"/>
    <ds:schemaRef ds:uri="67446347-bd43-4e43-8003-d54134e2ebba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0BE3882-3960-4F95-A09B-897B125E393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{DECEF8C0-6413-DB4D-806F-974B1BCCBB38}tf10001061</Template>
  <TotalTime>53832</TotalTime>
  <Words>1061</Words>
  <Application>Microsoft Macintosh PowerPoint</Application>
  <PresentationFormat>Widescreen</PresentationFormat>
  <Paragraphs>169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Palatino</vt:lpstr>
      <vt:lpstr>Wingdings</vt:lpstr>
      <vt:lpstr>188_anca</vt:lpstr>
      <vt:lpstr>Monocular Visual Odometry for Trajectory Estimation Using a Mobile Robot</vt:lpstr>
      <vt:lpstr>Introduction and Motivation</vt:lpstr>
      <vt:lpstr>Previous Work &amp; Limitations</vt:lpstr>
      <vt:lpstr>Project Contribution </vt:lpstr>
      <vt:lpstr>Methodology Overview </vt:lpstr>
      <vt:lpstr>Algorithm Details </vt:lpstr>
      <vt:lpstr>Experiment Setup</vt:lpstr>
      <vt:lpstr>Results: Tracking Quality</vt:lpstr>
      <vt:lpstr>Results: Trajectory Estimation</vt:lpstr>
      <vt:lpstr>Results: Sparse 3D Reconstruction </vt:lpstr>
      <vt:lpstr>Success &amp; Failure Cases </vt:lpstr>
      <vt:lpstr>Project Task Assignment </vt:lpstr>
      <vt:lpstr>Conclusion &amp; 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Asani, Soumith Reddy</cp:lastModifiedBy>
  <cp:revision>117</cp:revision>
  <cp:lastPrinted>2014-02-20T19:34:11Z</cp:lastPrinted>
  <dcterms:created xsi:type="dcterms:W3CDTF">2004-08-27T04:16:05Z</dcterms:created>
  <dcterms:modified xsi:type="dcterms:W3CDTF">2025-12-16T04:34:47Z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0x0101003B60BB81CBD3254E918B3D1944204F1B</vt:lpwstr>
  </property>
</Properties>
</file>